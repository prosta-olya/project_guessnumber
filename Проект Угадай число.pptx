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56" r:id="rId2"/>
    <p:sldId id="257" r:id="rId3"/>
    <p:sldId id="266" r:id="rId4"/>
    <p:sldId id="304" r:id="rId5"/>
    <p:sldId id="305" r:id="rId6"/>
    <p:sldId id="306" r:id="rId7"/>
    <p:sldId id="307" r:id="rId8"/>
    <p:sldId id="301" r:id="rId9"/>
    <p:sldId id="300" r:id="rId10"/>
    <p:sldId id="303" r:id="rId11"/>
    <p:sldId id="263" r:id="rId12"/>
    <p:sldId id="302" r:id="rId13"/>
  </p:sldIdLst>
  <p:sldSz cx="9144000" cy="5143500" type="screen16x9"/>
  <p:notesSz cx="6858000" cy="9144000"/>
  <p:embeddedFontLst>
    <p:embeddedFont>
      <p:font typeface="Fira Code" charset="0"/>
      <p:regular r:id="rId15"/>
      <p:bold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858"/>
  </p:clrMru>
</p:presentationPr>
</file>

<file path=ppt/tableStyles.xml><?xml version="1.0" encoding="utf-8"?>
<a:tblStyleLst xmlns:a="http://schemas.openxmlformats.org/drawingml/2006/main" def="{174F8629-A3C9-4514-AD4B-942D88EDA4E2}">
  <a:tblStyle styleId="{174F8629-A3C9-4514-AD4B-942D88EDA4E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3" d="100"/>
          <a:sy n="113" d="100"/>
        </p:scale>
        <p:origin x="-562" y="-67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ge7f9c668d6_0_10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0" name="Google Shape;850;ge7f9c668d6_0_10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ge7f9c668d6_0_10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0" name="Google Shape;850;ge7f9c668d6_0_10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e7f9c668d6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e7f9c668d6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1" name="Google Shape;2541;ge7b3cc9d3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2" name="Google Shape;2542;ge7b3cc9d3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6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2" name="Google Shape;92;p6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3" name="Google Shape;93;p6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4" name="Google Shape;94;p6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5" name="Google Shape;95;p6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6" name="Google Shape;96;p6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8" name="Google Shape;98;p6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0" name="Google Shape;100;p6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1" name="Google Shape;101;p6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2" name="Google Shape;102;p6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3" name="Google Shape;103;p6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4" name="Google Shape;104;p6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5" name="Google Shape;105;p6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7"/>
          <p:cNvSpPr txBox="1">
            <a:spLocks noGrp="1"/>
          </p:cNvSpPr>
          <p:nvPr>
            <p:ph type="subTitle" idx="1"/>
          </p:nvPr>
        </p:nvSpPr>
        <p:spPr>
          <a:xfrm>
            <a:off x="1674500" y="2736550"/>
            <a:ext cx="3627600" cy="10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7"/>
          <p:cNvSpPr txBox="1">
            <a:spLocks noGrp="1"/>
          </p:cNvSpPr>
          <p:nvPr>
            <p:ph type="title"/>
          </p:nvPr>
        </p:nvSpPr>
        <p:spPr>
          <a:xfrm>
            <a:off x="1154275" y="1137700"/>
            <a:ext cx="3969900" cy="142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7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2" name="Google Shape;112;p7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3" name="Google Shape;113;p7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6" name="Google Shape;116;p7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7" name="Google Shape;117;p7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8" name="Google Shape;118;p7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0" name="Google Shape;120;p7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2" name="Google Shape;122;p7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3" name="Google Shape;123;p7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4" name="Google Shape;124;p7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8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9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"/>
          <p:cNvSpPr txBox="1">
            <a:spLocks noGrp="1"/>
          </p:cNvSpPr>
          <p:nvPr>
            <p:ph type="body" idx="1"/>
          </p:nvPr>
        </p:nvSpPr>
        <p:spPr>
          <a:xfrm>
            <a:off x="3306200" y="2227588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37" name="Google Shape;337;p1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8" name="Google Shape;338;p1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9" name="Google Shape;339;p1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0" name="Google Shape;340;p1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1" name="Google Shape;341;p1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2" name="Google Shape;342;p1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3" name="Google Shape;343;p1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4" name="Google Shape;344;p1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5" name="Google Shape;345;p1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6" name="Google Shape;346;p1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7" name="Google Shape;347;p1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9" name="Google Shape;349;p1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1" name="Google Shape;351;p19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19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091200" y="2372263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3" name="Google Shape;353;p19"/>
          <p:cNvSpPr txBox="1">
            <a:spLocks noGrp="1"/>
          </p:cNvSpPr>
          <p:nvPr>
            <p:ph type="body" idx="3"/>
          </p:nvPr>
        </p:nvSpPr>
        <p:spPr>
          <a:xfrm>
            <a:off x="3739600" y="3164425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19"/>
          <p:cNvSpPr txBox="1">
            <a:spLocks noGrp="1"/>
          </p:cNvSpPr>
          <p:nvPr>
            <p:ph type="title" idx="4" hasCustomPrompt="1"/>
          </p:nvPr>
        </p:nvSpPr>
        <p:spPr>
          <a:xfrm flipH="1">
            <a:off x="2524600" y="3309175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5" name="Google Shape;355;p19"/>
          <p:cNvSpPr txBox="1">
            <a:spLocks noGrp="1"/>
          </p:cNvSpPr>
          <p:nvPr>
            <p:ph type="subTitle" idx="5"/>
          </p:nvPr>
        </p:nvSpPr>
        <p:spPr>
          <a:xfrm>
            <a:off x="1672200" y="1245150"/>
            <a:ext cx="5922000" cy="54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22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2"/>
          <p:cNvSpPr txBox="1">
            <a:spLocks noGrp="1"/>
          </p:cNvSpPr>
          <p:nvPr>
            <p:ph type="ctrTitle"/>
          </p:nvPr>
        </p:nvSpPr>
        <p:spPr>
          <a:xfrm>
            <a:off x="1139125" y="582056"/>
            <a:ext cx="30645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22"/>
          <p:cNvSpPr txBox="1">
            <a:spLocks noGrp="1"/>
          </p:cNvSpPr>
          <p:nvPr>
            <p:ph type="subTitle" idx="1"/>
          </p:nvPr>
        </p:nvSpPr>
        <p:spPr>
          <a:xfrm>
            <a:off x="2064825" y="1695725"/>
            <a:ext cx="37206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0" name="Google Shape;400;p22"/>
          <p:cNvSpPr txBox="1">
            <a:spLocks noGrp="1"/>
          </p:cNvSpPr>
          <p:nvPr>
            <p:ph type="subTitle" idx="2"/>
          </p:nvPr>
        </p:nvSpPr>
        <p:spPr>
          <a:xfrm>
            <a:off x="1570575" y="1261025"/>
            <a:ext cx="4572000" cy="43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1" name="Google Shape;401;p2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2" name="Google Shape;402;p2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3" name="Google Shape;403;p2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4" name="Google Shape;404;p2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5" name="Google Shape;405;p2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6" name="Google Shape;406;p2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7" name="Google Shape;407;p2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8" name="Google Shape;408;p2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9" name="Google Shape;409;p2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0" name="Google Shape;410;p2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1" name="Google Shape;411;p2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2" name="Google Shape;412;p2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3" name="Google Shape;413;p2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4" name="Google Shape;414;p2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5" name="Google Shape;415;p22"/>
          <p:cNvSpPr txBox="1"/>
          <p:nvPr/>
        </p:nvSpPr>
        <p:spPr>
          <a:xfrm>
            <a:off x="2912425" y="3087263"/>
            <a:ext cx="4418100" cy="6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CREDITS: This presentation template was created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2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including icons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and infographics &amp; images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Freepik</a:t>
            </a:r>
            <a:endParaRPr sz="1200" b="1" u="sng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2" r:id="rId3"/>
    <p:sldLayoutId id="2147483653" r:id="rId4"/>
    <p:sldLayoutId id="2147483658" r:id="rId5"/>
    <p:sldLayoutId id="2147483665" r:id="rId6"/>
    <p:sldLayoutId id="2147483669" r:id="rId7"/>
    <p:sldLayoutId id="2147483670" r:id="rId8"/>
    <p:sldLayoutId id="2147483674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Проект</a:t>
            </a:r>
            <a:r>
              <a:rPr lang="en" dirty="0" smtClean="0"/>
              <a:t> </a:t>
            </a:r>
            <a:r>
              <a:rPr lang="en" dirty="0" smtClean="0">
                <a:solidFill>
                  <a:schemeClr val="accent2"/>
                </a:solidFill>
              </a:rPr>
              <a:t>‘</a:t>
            </a:r>
            <a:r>
              <a:rPr lang="ru-RU" dirty="0" smtClean="0">
                <a:solidFill>
                  <a:schemeClr val="accent2"/>
                </a:solidFill>
              </a:rPr>
              <a:t>Угадай число</a:t>
            </a:r>
            <a:r>
              <a:rPr lang="en" dirty="0" smtClean="0">
                <a:solidFill>
                  <a:schemeClr val="accent2"/>
                </a:solidFill>
              </a:rPr>
              <a:t>’ </a:t>
            </a:r>
            <a:r>
              <a:rPr lang="en" dirty="0">
                <a:solidFill>
                  <a:schemeClr val="accent3"/>
                </a:solidFill>
              </a:rPr>
              <a:t>{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459" name="Google Shape;459;p27"/>
          <p:cNvSpPr txBox="1">
            <a:spLocks noGrp="1"/>
          </p:cNvSpPr>
          <p:nvPr>
            <p:ph type="subTitle" idx="1"/>
          </p:nvPr>
        </p:nvSpPr>
        <p:spPr>
          <a:xfrm>
            <a:off x="2195736" y="2787774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&lt; </a:t>
            </a:r>
            <a:r>
              <a:rPr lang="ru-RU" dirty="0" smtClean="0"/>
              <a:t>Студентки группы Пр-31</a:t>
            </a:r>
            <a:r>
              <a:rPr lang="en" dirty="0" smtClean="0"/>
              <a:t> </a:t>
            </a:r>
            <a:r>
              <a:rPr lang="en" dirty="0"/>
              <a:t>&gt;</a:t>
            </a:r>
            <a:endParaRPr dirty="0"/>
          </a:p>
        </p:txBody>
      </p:sp>
      <p:sp>
        <p:nvSpPr>
          <p:cNvPr id="461" name="Google Shape;461;p27"/>
          <p:cNvSpPr txBox="1">
            <a:spLocks noGrp="1"/>
          </p:cNvSpPr>
          <p:nvPr>
            <p:ph type="subTitle" idx="2"/>
          </p:nvPr>
        </p:nvSpPr>
        <p:spPr>
          <a:xfrm>
            <a:off x="1763688" y="185167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 smtClean="0">
                <a:solidFill>
                  <a:schemeClr val="accent6"/>
                </a:solidFill>
              </a:rPr>
              <a:t>[</a:t>
            </a:r>
            <a:r>
              <a:rPr lang="ru-RU" sz="2400" dirty="0" smtClean="0">
                <a:solidFill>
                  <a:schemeClr val="accent1"/>
                </a:solidFill>
              </a:rPr>
              <a:t>Проект выполнили </a:t>
            </a:r>
            <a:endParaRPr lang="en-US" sz="2400" dirty="0" smtClean="0">
              <a:solidFill>
                <a:schemeClr val="accen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smtClean="0">
                <a:solidFill>
                  <a:schemeClr val="lt2"/>
                </a:solidFill>
              </a:rPr>
              <a:t>Сивер Ольга и Юнгман Кристина</a:t>
            </a:r>
            <a:r>
              <a:rPr lang="en" sz="2400" dirty="0" smtClean="0">
                <a:solidFill>
                  <a:schemeClr val="accent6"/>
                </a:solidFill>
              </a:rPr>
              <a:t>] </a:t>
            </a:r>
            <a:endParaRPr sz="2400" dirty="0">
              <a:solidFill>
                <a:schemeClr val="accent6"/>
              </a:solidFill>
            </a:endParaRPr>
          </a:p>
        </p:txBody>
      </p:sp>
      <p:grpSp>
        <p:nvGrpSpPr>
          <p:cNvPr id="462" name="Google Shape;462;p27"/>
          <p:cNvGrpSpPr/>
          <p:nvPr/>
        </p:nvGrpSpPr>
        <p:grpSpPr>
          <a:xfrm>
            <a:off x="1413525" y="1759900"/>
            <a:ext cx="506100" cy="2444350"/>
            <a:chOff x="1413525" y="1759900"/>
            <a:chExt cx="506100" cy="2444350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13525" y="3557750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smtClean="0"/>
              <a:t>server</a:t>
            </a:r>
            <a:r>
              <a:rPr lang="en" sz="1400" dirty="0" smtClean="0">
                <a:solidFill>
                  <a:schemeClr val="accent3"/>
                </a:solidFill>
              </a:rPr>
              <a:t>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/>
            <a:r>
              <a:rPr lang="en-US" sz="1400" dirty="0" smtClean="0"/>
              <a:t>client.cpp</a:t>
            </a:r>
            <a:endParaRPr lang="en-US" sz="1400" dirty="0"/>
          </a:p>
        </p:txBody>
      </p:sp>
      <p:grpSp>
        <p:nvGrpSpPr>
          <p:cNvPr id="11" name="Google Shape;12642;p65"/>
          <p:cNvGrpSpPr/>
          <p:nvPr/>
        </p:nvGrpSpPr>
        <p:grpSpPr>
          <a:xfrm>
            <a:off x="7455583" y="3363838"/>
            <a:ext cx="1148865" cy="1208013"/>
            <a:chOff x="7521454" y="2906139"/>
            <a:chExt cx="359651" cy="371013"/>
          </a:xfrm>
        </p:grpSpPr>
        <p:sp>
          <p:nvSpPr>
            <p:cNvPr id="12" name="Google Shape;12643;p65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2644;p65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2645;p65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2646;p65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2647;p65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11405;p63"/>
          <p:cNvGrpSpPr/>
          <p:nvPr/>
        </p:nvGrpSpPr>
        <p:grpSpPr>
          <a:xfrm>
            <a:off x="7546347" y="2427734"/>
            <a:ext cx="914085" cy="864096"/>
            <a:chOff x="1958520" y="2302574"/>
            <a:chExt cx="359213" cy="327807"/>
          </a:xfrm>
        </p:grpSpPr>
        <p:sp>
          <p:nvSpPr>
            <p:cNvPr id="18" name="Google Shape;11406;p63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1407;p63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1408;p63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Цели и задачи проекта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2" name="Google Shape;472;p28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buNone/>
            </a:pPr>
            <a:r>
              <a:rPr lang="ru-RU" sz="1400" dirty="0" smtClean="0">
                <a:solidFill>
                  <a:schemeClr val="accent3"/>
                </a:solidFill>
              </a:rPr>
              <a:t>Цель: разработать приложение </a:t>
            </a:r>
            <a:r>
              <a:rPr lang="ru-RU" sz="1400" smtClean="0">
                <a:solidFill>
                  <a:schemeClr val="accent3"/>
                </a:solidFill>
              </a:rPr>
              <a:t>используя </a:t>
            </a:r>
            <a:r>
              <a:rPr lang="ru-RU" sz="1400" b="1" smtClean="0">
                <a:solidFill>
                  <a:srgbClr val="FF5858"/>
                </a:solidFill>
              </a:rPr>
              <a:t>указатели</a:t>
            </a:r>
            <a:r>
              <a:rPr lang="ru-RU" sz="1400" smtClean="0">
                <a:solidFill>
                  <a:schemeClr val="accent3"/>
                </a:solidFill>
              </a:rPr>
              <a:t>, </a:t>
            </a:r>
            <a:r>
              <a:rPr lang="ru-RU" sz="1400" b="1" dirty="0" smtClean="0">
                <a:solidFill>
                  <a:srgbClr val="FF5858"/>
                </a:solidFill>
              </a:rPr>
              <a:t>потоки</a:t>
            </a:r>
            <a:r>
              <a:rPr lang="ru-RU" sz="1400" dirty="0" smtClean="0">
                <a:solidFill>
                  <a:schemeClr val="accent3"/>
                </a:solidFill>
              </a:rPr>
              <a:t> и </a:t>
            </a:r>
            <a:r>
              <a:rPr lang="ru-RU" sz="1400" b="1" dirty="0" smtClean="0">
                <a:solidFill>
                  <a:srgbClr val="FF5858"/>
                </a:solidFill>
              </a:rPr>
              <a:t>сокеты</a:t>
            </a:r>
            <a:r>
              <a:rPr lang="ru-RU" sz="1400" dirty="0" smtClean="0">
                <a:solidFill>
                  <a:schemeClr val="accent3"/>
                </a:solidFill>
              </a:rPr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 smtClean="0">
                <a:solidFill>
                  <a:schemeClr val="accent3"/>
                </a:solidFill>
              </a:rPr>
              <a:t>Задачи</a:t>
            </a:r>
            <a:r>
              <a:rPr lang="en" sz="1400" dirty="0" smtClean="0">
                <a:solidFill>
                  <a:schemeClr val="accent3"/>
                </a:solidFill>
              </a:rPr>
              <a:t>: 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∗"/>
            </a:pPr>
            <a:r>
              <a:rPr lang="ru-RU" sz="1400" dirty="0" smtClean="0">
                <a:solidFill>
                  <a:schemeClr val="accent3"/>
                </a:solidFill>
              </a:rPr>
              <a:t>Изучить работу с </a:t>
            </a:r>
            <a:r>
              <a:rPr lang="ru-RU" sz="1400" b="1" dirty="0" smtClean="0">
                <a:solidFill>
                  <a:srgbClr val="FF5858"/>
                </a:solidFill>
                <a:uFill>
                  <a:noFill/>
                </a:uFill>
              </a:rPr>
              <a:t>сокетами</a:t>
            </a:r>
            <a:r>
              <a:rPr lang="en" sz="1400" dirty="0" smtClean="0">
                <a:solidFill>
                  <a:schemeClr val="accent3"/>
                </a:solidFill>
              </a:rPr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∗"/>
            </a:pPr>
            <a:r>
              <a:rPr lang="ru-RU" sz="1400" dirty="0" smtClean="0">
                <a:solidFill>
                  <a:schemeClr val="accent3"/>
                </a:solidFill>
              </a:rPr>
              <a:t>Реализовать управление </a:t>
            </a:r>
            <a:r>
              <a:rPr lang="ru-RU" sz="1400" b="1" dirty="0" smtClean="0">
                <a:solidFill>
                  <a:srgbClr val="FF5858"/>
                </a:solidFill>
              </a:rPr>
              <a:t>памятью</a:t>
            </a:r>
            <a:r>
              <a:rPr lang="en" sz="1400" dirty="0" smtClean="0">
                <a:solidFill>
                  <a:schemeClr val="accent3"/>
                </a:solidFill>
              </a:rPr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∗"/>
            </a:pPr>
            <a:r>
              <a:rPr lang="ru-RU" sz="1400" dirty="0" smtClean="0">
                <a:solidFill>
                  <a:schemeClr val="accent3"/>
                </a:solidFill>
              </a:rPr>
              <a:t>Осуществить работу с </a:t>
            </a:r>
            <a:r>
              <a:rPr lang="ru-RU" sz="1400" b="1" dirty="0" smtClean="0">
                <a:solidFill>
                  <a:srgbClr val="FF5858"/>
                </a:solidFill>
              </a:rPr>
              <a:t>указателями</a:t>
            </a:r>
            <a:r>
              <a:rPr lang="ru-RU" sz="1400" dirty="0" smtClean="0">
                <a:solidFill>
                  <a:schemeClr val="accent3"/>
                </a:solidFill>
              </a:rPr>
              <a:t>.</a:t>
            </a: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∗"/>
            </a:pPr>
            <a:r>
              <a:rPr lang="ru-RU" sz="1400" dirty="0" smtClean="0">
                <a:solidFill>
                  <a:schemeClr val="accent3"/>
                </a:solidFill>
              </a:rPr>
              <a:t>Использовать </a:t>
            </a:r>
            <a:r>
              <a:rPr lang="ru-RU" sz="1400" b="1" dirty="0" smtClean="0">
                <a:solidFill>
                  <a:srgbClr val="FF5858"/>
                </a:solidFill>
              </a:rPr>
              <a:t>многопоточность</a:t>
            </a:r>
            <a:r>
              <a:rPr lang="ru-RU" sz="1400" dirty="0" smtClean="0">
                <a:solidFill>
                  <a:schemeClr val="accent3"/>
                </a:solidFill>
              </a:rPr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 smtClean="0">
                <a:solidFill>
                  <a:schemeClr val="accent3"/>
                </a:solidFill>
              </a:rPr>
              <a:t>Основная цель проекта – не просто написать игру, а понять, как программы общаются друг с другом по сети.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server.cpp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client.cpp</a:t>
            </a:r>
            <a:endParaRPr sz="14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  <p:transition>
    <p:split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7"/>
          <p:cNvSpPr txBox="1">
            <a:spLocks noGrp="1"/>
          </p:cNvSpPr>
          <p:nvPr>
            <p:ph type="body" idx="1"/>
          </p:nvPr>
        </p:nvSpPr>
        <p:spPr>
          <a:xfrm>
            <a:off x="3306200" y="2227588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dirty="0" smtClean="0">
                <a:solidFill>
                  <a:schemeClr val="accent3"/>
                </a:solidFill>
              </a:rPr>
              <a:t>Server: </a:t>
            </a:r>
            <a:r>
              <a:rPr lang="ru-RU" dirty="0" smtClean="0">
                <a:solidFill>
                  <a:schemeClr val="accent3"/>
                </a:solidFill>
              </a:rPr>
              <a:t>генерирует число, хранит состояние игры, обрабатывает запросы клиентов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Архитектура приложения </a:t>
            </a:r>
            <a:r>
              <a:rPr lang="en" dirty="0" smtClean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784" name="Google Shape;784;p37"/>
          <p:cNvSpPr txBox="1">
            <a:spLocks noGrp="1"/>
          </p:cNvSpPr>
          <p:nvPr>
            <p:ph type="title" idx="2"/>
          </p:nvPr>
        </p:nvSpPr>
        <p:spPr>
          <a:xfrm flipH="1">
            <a:off x="2091200" y="2372263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&lt; /1 &gt;</a:t>
            </a:r>
            <a:endParaRPr/>
          </a:p>
        </p:txBody>
      </p:sp>
      <p:sp>
        <p:nvSpPr>
          <p:cNvPr id="785" name="Google Shape;785;p37"/>
          <p:cNvSpPr txBox="1">
            <a:spLocks noGrp="1"/>
          </p:cNvSpPr>
          <p:nvPr>
            <p:ph type="body" idx="3"/>
          </p:nvPr>
        </p:nvSpPr>
        <p:spPr>
          <a:xfrm>
            <a:off x="3739600" y="3164425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-US" dirty="0" smtClean="0">
                <a:solidFill>
                  <a:schemeClr val="accent3"/>
                </a:solidFill>
              </a:rPr>
              <a:t>Client: </a:t>
            </a:r>
            <a:r>
              <a:rPr lang="ru-RU" dirty="0" smtClean="0">
                <a:solidFill>
                  <a:schemeClr val="accent3"/>
                </a:solidFill>
              </a:rPr>
              <a:t>отправляет предположения и получает подсказки (</a:t>
            </a:r>
            <a:r>
              <a:rPr lang="en-US" dirty="0" smtClean="0">
                <a:solidFill>
                  <a:schemeClr val="accent3"/>
                </a:solidFill>
              </a:rPr>
              <a:t>“</a:t>
            </a:r>
            <a:r>
              <a:rPr lang="ru-RU" dirty="0" smtClean="0">
                <a:solidFill>
                  <a:schemeClr val="accent3"/>
                </a:solidFill>
              </a:rPr>
              <a:t>Больше</a:t>
            </a:r>
            <a:r>
              <a:rPr lang="en-US" dirty="0" smtClean="0">
                <a:solidFill>
                  <a:schemeClr val="accent3"/>
                </a:solidFill>
              </a:rPr>
              <a:t>”, “</a:t>
            </a:r>
            <a:r>
              <a:rPr lang="ru-RU" dirty="0" smtClean="0">
                <a:solidFill>
                  <a:schemeClr val="accent3"/>
                </a:solidFill>
              </a:rPr>
              <a:t>Меньше</a:t>
            </a:r>
            <a:r>
              <a:rPr lang="en-US" dirty="0" smtClean="0">
                <a:solidFill>
                  <a:schemeClr val="accent3"/>
                </a:solidFill>
              </a:rPr>
              <a:t>”, “</a:t>
            </a:r>
            <a:r>
              <a:rPr lang="ru-RU" dirty="0" smtClean="0">
                <a:solidFill>
                  <a:schemeClr val="accent3"/>
                </a:solidFill>
              </a:rPr>
              <a:t>Победа</a:t>
            </a:r>
            <a:r>
              <a:rPr lang="en-US" dirty="0" smtClean="0">
                <a:solidFill>
                  <a:schemeClr val="accent3"/>
                </a:solidFill>
              </a:rPr>
              <a:t>”) 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786" name="Google Shape;786;p37"/>
          <p:cNvSpPr txBox="1">
            <a:spLocks noGrp="1"/>
          </p:cNvSpPr>
          <p:nvPr>
            <p:ph type="title" idx="4"/>
          </p:nvPr>
        </p:nvSpPr>
        <p:spPr>
          <a:xfrm flipH="1">
            <a:off x="2524600" y="3309175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&lt; /2 &gt;</a:t>
            </a:r>
            <a:endParaRPr/>
          </a:p>
        </p:txBody>
      </p:sp>
      <p:sp>
        <p:nvSpPr>
          <p:cNvPr id="787" name="Google Shape;787;p37"/>
          <p:cNvSpPr txBox="1">
            <a:spLocks noGrp="1"/>
          </p:cNvSpPr>
          <p:nvPr>
            <p:ph type="subTitle" idx="5"/>
          </p:nvPr>
        </p:nvSpPr>
        <p:spPr>
          <a:xfrm>
            <a:off x="1672200" y="1245150"/>
            <a:ext cx="5922000" cy="54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&lt; </a:t>
            </a:r>
            <a:r>
              <a:rPr lang="ru-RU" dirty="0" smtClean="0"/>
              <a:t>Модель: </a:t>
            </a:r>
            <a:r>
              <a:rPr lang="en-US" dirty="0" smtClean="0"/>
              <a:t>Client-Server</a:t>
            </a:r>
            <a:r>
              <a:rPr lang="en" dirty="0" smtClean="0"/>
              <a:t> </a:t>
            </a:r>
            <a:r>
              <a:rPr lang="en" dirty="0"/>
              <a:t>&gt;</a:t>
            </a:r>
            <a:endParaRPr dirty="0"/>
          </a:p>
        </p:txBody>
      </p:sp>
      <p:sp>
        <p:nvSpPr>
          <p:cNvPr id="789" name="Google Shape;789;p37"/>
          <p:cNvSpPr txBox="1">
            <a:spLocks noGrp="1"/>
          </p:cNvSpPr>
          <p:nvPr>
            <p:ph type="subTitle" idx="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server.cpp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90" name="Google Shape;790;p37"/>
          <p:cNvSpPr txBox="1">
            <a:spLocks noGrp="1"/>
          </p:cNvSpPr>
          <p:nvPr>
            <p:ph type="subTitle" idx="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client.cpp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" name="Google Shape;11405;p63"/>
          <p:cNvGrpSpPr/>
          <p:nvPr/>
        </p:nvGrpSpPr>
        <p:grpSpPr>
          <a:xfrm>
            <a:off x="7812361" y="699542"/>
            <a:ext cx="720080" cy="648072"/>
            <a:chOff x="1958520" y="2302574"/>
            <a:chExt cx="359213" cy="327807"/>
          </a:xfrm>
        </p:grpSpPr>
        <p:sp>
          <p:nvSpPr>
            <p:cNvPr id="16" name="Google Shape;11406;p63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1407;p63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1408;p63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12642;p65"/>
          <p:cNvGrpSpPr/>
          <p:nvPr/>
        </p:nvGrpSpPr>
        <p:grpSpPr>
          <a:xfrm>
            <a:off x="7740352" y="1419622"/>
            <a:ext cx="860833" cy="936104"/>
            <a:chOff x="7521454" y="2906139"/>
            <a:chExt cx="359651" cy="371013"/>
          </a:xfrm>
        </p:grpSpPr>
        <p:sp>
          <p:nvSpPr>
            <p:cNvPr id="20" name="Google Shape;12643;p65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2644;p65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2645;p65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2646;p65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2647;p65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>
    <p:zoom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971600" y="771550"/>
            <a:ext cx="4598635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2800" dirty="0" smtClean="0"/>
              <a:t>Как выглядит игра</a:t>
            </a:r>
            <a:r>
              <a:rPr lang="en" sz="2800" dirty="0" smtClean="0">
                <a:solidFill>
                  <a:schemeClr val="accent6"/>
                </a:solidFill>
              </a:rPr>
              <a:t>{</a:t>
            </a:r>
            <a:endParaRPr sz="2800" dirty="0">
              <a:solidFill>
                <a:schemeClr val="accent3"/>
              </a:solidFill>
            </a:endParaRPr>
          </a:p>
        </p:txBody>
      </p:sp>
      <p:grpSp>
        <p:nvGrpSpPr>
          <p:cNvPr id="2" name="Google Shape;462;p27"/>
          <p:cNvGrpSpPr/>
          <p:nvPr/>
        </p:nvGrpSpPr>
        <p:grpSpPr>
          <a:xfrm>
            <a:off x="1403648" y="1347614"/>
            <a:ext cx="506100" cy="2841277"/>
            <a:chOff x="1403648" y="1759900"/>
            <a:chExt cx="506100" cy="2431274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03648" y="3575651"/>
              <a:ext cx="506100" cy="615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smtClean="0"/>
              <a:t>server</a:t>
            </a:r>
            <a:r>
              <a:rPr lang="en" sz="1400" dirty="0" smtClean="0">
                <a:solidFill>
                  <a:schemeClr val="accent3"/>
                </a:solidFill>
              </a:rPr>
              <a:t>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/>
            <a:r>
              <a:rPr lang="en-US" sz="1400" dirty="0" smtClean="0"/>
              <a:t>client.cpp</a:t>
            </a:r>
            <a:endParaRPr lang="en-US" sz="1400" dirty="0"/>
          </a:p>
        </p:txBody>
      </p:sp>
      <p:sp>
        <p:nvSpPr>
          <p:cNvPr id="2050" name="AutoShape 2" descr="blob:https://web.telegram.org/4e9ce96d-8ac1-4b9b-a271-bb41966aabb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52" name="AutoShape 4" descr="blob:https://web.telegram.org/4e9ce96d-8ac1-4b9b-a271-bb41966aabb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2053" name="Picture 5" descr="D:\ЗАГРУЗКИ\photo_5298542171025774947_x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691680" y="1275606"/>
            <a:ext cx="7038975" cy="2305050"/>
          </a:xfrm>
          <a:prstGeom prst="rect">
            <a:avLst/>
          </a:prstGeom>
          <a:noFill/>
        </p:spPr>
      </p:pic>
    </p:spTree>
  </p:cSld>
  <p:clrMapOvr>
    <a:masterClrMapping/>
  </p:clrMapOvr>
  <p:transition>
    <p:randomBar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42"/>
          <p:cNvSpPr txBox="1">
            <a:spLocks noGrp="1"/>
          </p:cNvSpPr>
          <p:nvPr>
            <p:ph type="title"/>
          </p:nvPr>
        </p:nvSpPr>
        <p:spPr>
          <a:xfrm>
            <a:off x="1043608" y="140138"/>
            <a:ext cx="4680520" cy="142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rgbClr val="FF5858"/>
                </a:solidFill>
              </a:rPr>
              <a:t>Как выглядит игра</a:t>
            </a:r>
            <a:r>
              <a:rPr lang="en" dirty="0" smtClean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855" name="Google Shape;855;p42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server.cpp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56" name="Google Shape;856;p42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client.cpp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2" name="Google Shape;858;p42"/>
          <p:cNvGrpSpPr/>
          <p:nvPr/>
        </p:nvGrpSpPr>
        <p:grpSpPr>
          <a:xfrm>
            <a:off x="1084825" y="1059582"/>
            <a:ext cx="506100" cy="3528392"/>
            <a:chOff x="1084825" y="2556550"/>
            <a:chExt cx="506100" cy="1750919"/>
          </a:xfrm>
        </p:grpSpPr>
        <p:sp>
          <p:nvSpPr>
            <p:cNvPr id="859" name="Google Shape;859;p42"/>
            <p:cNvSpPr txBox="1"/>
            <p:nvPr/>
          </p:nvSpPr>
          <p:spPr>
            <a:xfrm>
              <a:off x="1084825" y="3954425"/>
              <a:ext cx="506100" cy="3530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860" name="Google Shape;860;p42"/>
            <p:cNvCxnSpPr/>
            <p:nvPr/>
          </p:nvCxnSpPr>
          <p:spPr>
            <a:xfrm>
              <a:off x="1337875" y="2556550"/>
              <a:ext cx="0" cy="1377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30722" name="Picture 2" descr="D:\ЗАГРУЗКИ\photo_5298542171025774950_y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619672" y="1059582"/>
            <a:ext cx="6356350" cy="2724150"/>
          </a:xfrm>
          <a:prstGeom prst="rect">
            <a:avLst/>
          </a:prstGeom>
          <a:noFill/>
        </p:spPr>
      </p:pic>
    </p:spTree>
  </p:cSld>
  <p:clrMapOvr>
    <a:masterClrMapping/>
  </p:clrMapOvr>
  <p:transition>
    <p:randomBar dir="vert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115616" y="1131590"/>
            <a:ext cx="4598635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2800" dirty="0" smtClean="0"/>
              <a:t>Как осуществить подключение </a:t>
            </a:r>
            <a:r>
              <a:rPr lang="en" sz="2800" dirty="0" smtClean="0">
                <a:solidFill>
                  <a:schemeClr val="accent6"/>
                </a:solidFill>
              </a:rPr>
              <a:t>{</a:t>
            </a:r>
            <a:endParaRPr sz="2800" dirty="0">
              <a:solidFill>
                <a:schemeClr val="accent3"/>
              </a:solidFill>
            </a:endParaRPr>
          </a:p>
        </p:txBody>
      </p:sp>
      <p:grpSp>
        <p:nvGrpSpPr>
          <p:cNvPr id="2" name="Google Shape;462;p27"/>
          <p:cNvGrpSpPr/>
          <p:nvPr/>
        </p:nvGrpSpPr>
        <p:grpSpPr>
          <a:xfrm>
            <a:off x="1403648" y="2067694"/>
            <a:ext cx="506100" cy="2121197"/>
            <a:chOff x="1403648" y="1759900"/>
            <a:chExt cx="506100" cy="2431274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03648" y="3575651"/>
              <a:ext cx="506100" cy="615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smtClean="0"/>
              <a:t>server</a:t>
            </a:r>
            <a:r>
              <a:rPr lang="en" sz="1400" dirty="0" smtClean="0">
                <a:solidFill>
                  <a:schemeClr val="accent3"/>
                </a:solidFill>
              </a:rPr>
              <a:t>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/>
            <a:r>
              <a:rPr lang="en-US" sz="1400" dirty="0" smtClean="0"/>
              <a:t>client.cpp</a:t>
            </a:r>
            <a:endParaRPr lang="en-US" sz="1400" dirty="0"/>
          </a:p>
        </p:txBody>
      </p:sp>
      <p:sp>
        <p:nvSpPr>
          <p:cNvPr id="22" name="Google Shape;853;p42"/>
          <p:cNvSpPr txBox="1">
            <a:spLocks noGrp="1"/>
          </p:cNvSpPr>
          <p:nvPr>
            <p:ph type="subTitle" idx="1"/>
          </p:nvPr>
        </p:nvSpPr>
        <p:spPr>
          <a:xfrm>
            <a:off x="1619672" y="1779662"/>
            <a:ext cx="3240360" cy="208823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" sz="1400" dirty="0"/>
              <a:t>&lt; </a:t>
            </a:r>
            <a:r>
              <a:rPr lang="ru-RU" sz="1400" dirty="0" smtClean="0"/>
              <a:t>Чтобы запустить программу на двух устройствах на одной </a:t>
            </a:r>
            <a:r>
              <a:rPr lang="ru-RU" sz="1400" dirty="0" smtClean="0"/>
              <a:t>сети, </a:t>
            </a:r>
            <a:r>
              <a:rPr lang="ru-RU" sz="1400" dirty="0" smtClean="0"/>
              <a:t>мы посмотрели в параметрах IpV4-адрес </a:t>
            </a:r>
            <a:r>
              <a:rPr lang="en" sz="1400" dirty="0" smtClean="0"/>
              <a:t>&gt;</a:t>
            </a:r>
            <a:endParaRPr sz="1400" dirty="0"/>
          </a:p>
        </p:txBody>
      </p:sp>
      <p:pic>
        <p:nvPicPr>
          <p:cNvPr id="31746" name="Picture 2" descr="D:\ЗАГРУЗКИ\photo_5298542171025774952_y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94555" y="843558"/>
            <a:ext cx="4169933" cy="3456384"/>
          </a:xfrm>
          <a:prstGeom prst="rect">
            <a:avLst/>
          </a:prstGeom>
          <a:noFill/>
        </p:spPr>
      </p:pic>
    </p:spTree>
  </p:cSld>
  <p:clrMapOvr>
    <a:masterClrMapping/>
  </p:clrMapOvr>
  <p:transition>
    <p:pull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115616" y="843558"/>
            <a:ext cx="4598635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2800" dirty="0" smtClean="0"/>
              <a:t>Как осуществить подключение </a:t>
            </a:r>
            <a:r>
              <a:rPr lang="en" sz="2800" dirty="0" smtClean="0">
                <a:solidFill>
                  <a:schemeClr val="accent6"/>
                </a:solidFill>
              </a:rPr>
              <a:t>{</a:t>
            </a:r>
            <a:endParaRPr sz="2800" dirty="0">
              <a:solidFill>
                <a:schemeClr val="accent3"/>
              </a:solidFill>
            </a:endParaRPr>
          </a:p>
        </p:txBody>
      </p:sp>
      <p:grpSp>
        <p:nvGrpSpPr>
          <p:cNvPr id="2" name="Google Shape;462;p27"/>
          <p:cNvGrpSpPr/>
          <p:nvPr/>
        </p:nvGrpSpPr>
        <p:grpSpPr>
          <a:xfrm>
            <a:off x="1403648" y="1563638"/>
            <a:ext cx="506100" cy="3384376"/>
            <a:chOff x="1403648" y="1759900"/>
            <a:chExt cx="506100" cy="2431274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03648" y="3575651"/>
              <a:ext cx="506100" cy="615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smtClean="0"/>
              <a:t>server</a:t>
            </a:r>
            <a:r>
              <a:rPr lang="en" sz="1400" dirty="0" smtClean="0">
                <a:solidFill>
                  <a:schemeClr val="accent3"/>
                </a:solidFill>
              </a:rPr>
              <a:t>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/>
            <a:r>
              <a:rPr lang="en-US" sz="1400" dirty="0" smtClean="0"/>
              <a:t>client.cpp</a:t>
            </a:r>
            <a:endParaRPr lang="en-US" sz="1400" dirty="0"/>
          </a:p>
        </p:txBody>
      </p:sp>
      <p:sp>
        <p:nvSpPr>
          <p:cNvPr id="22" name="Google Shape;853;p42"/>
          <p:cNvSpPr txBox="1">
            <a:spLocks noGrp="1"/>
          </p:cNvSpPr>
          <p:nvPr>
            <p:ph type="subTitle" idx="1"/>
          </p:nvPr>
        </p:nvSpPr>
        <p:spPr>
          <a:xfrm>
            <a:off x="1691680" y="1563638"/>
            <a:ext cx="3888432" cy="115212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" sz="1400" dirty="0"/>
              <a:t>&lt; </a:t>
            </a:r>
            <a:r>
              <a:rPr lang="ru-RU" sz="1400" dirty="0" smtClean="0"/>
              <a:t>т</a:t>
            </a:r>
            <a:r>
              <a:rPr lang="ru-RU" sz="1400" dirty="0" smtClean="0"/>
              <a:t>ак </a:t>
            </a:r>
            <a:r>
              <a:rPr lang="ru-RU" sz="1400" dirty="0" smtClean="0"/>
              <a:t>как Windows Блокирует новые </a:t>
            </a:r>
            <a:r>
              <a:rPr lang="ru-RU" sz="1400" dirty="0" smtClean="0"/>
              <a:t>программы, пришлось </a:t>
            </a:r>
            <a:r>
              <a:rPr lang="ru-RU" sz="1400" dirty="0" smtClean="0"/>
              <a:t>на время выключить брандмауэр на обоих устройствах</a:t>
            </a:r>
            <a:r>
              <a:rPr lang="ru-RU" sz="1400" dirty="0" smtClean="0"/>
              <a:t> </a:t>
            </a:r>
            <a:r>
              <a:rPr lang="en" sz="1400" dirty="0" smtClean="0"/>
              <a:t>&gt;</a:t>
            </a:r>
            <a:endParaRPr sz="1400" dirty="0"/>
          </a:p>
        </p:txBody>
      </p:sp>
      <p:pic>
        <p:nvPicPr>
          <p:cNvPr id="32770" name="Picture 2" descr="D:\ЗАГРУЗКИ\photo_5298542171025774951_y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763688" y="2643758"/>
            <a:ext cx="6408712" cy="1556401"/>
          </a:xfrm>
          <a:prstGeom prst="rect">
            <a:avLst/>
          </a:prstGeom>
          <a:noFill/>
        </p:spPr>
      </p:pic>
    </p:spTree>
  </p:cSld>
  <p:clrMapOvr>
    <a:masterClrMapping/>
  </p:clrMapOvr>
  <p:transition>
    <p:pull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115616" y="1131590"/>
            <a:ext cx="4598635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2800" dirty="0" smtClean="0"/>
              <a:t>Работа</a:t>
            </a:r>
            <a:r>
              <a:rPr lang="en" sz="2800" dirty="0" smtClean="0">
                <a:solidFill>
                  <a:schemeClr val="accent2"/>
                </a:solidFill>
              </a:rPr>
              <a:t> ‘Server’ </a:t>
            </a:r>
            <a:r>
              <a:rPr lang="en" sz="2800" dirty="0" smtClean="0">
                <a:solidFill>
                  <a:schemeClr val="accent6"/>
                </a:solidFill>
              </a:rPr>
              <a:t>{</a:t>
            </a:r>
            <a:endParaRPr sz="2800" dirty="0">
              <a:solidFill>
                <a:schemeClr val="accent3"/>
              </a:solidFill>
            </a:endParaRPr>
          </a:p>
        </p:txBody>
      </p:sp>
      <p:grpSp>
        <p:nvGrpSpPr>
          <p:cNvPr id="2" name="Google Shape;462;p27"/>
          <p:cNvGrpSpPr/>
          <p:nvPr/>
        </p:nvGrpSpPr>
        <p:grpSpPr>
          <a:xfrm>
            <a:off x="1403648" y="2067694"/>
            <a:ext cx="506100" cy="2121197"/>
            <a:chOff x="1403648" y="1759900"/>
            <a:chExt cx="506100" cy="2431274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03648" y="3575651"/>
              <a:ext cx="506100" cy="615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smtClean="0"/>
              <a:t>server</a:t>
            </a:r>
            <a:r>
              <a:rPr lang="en" sz="1400" dirty="0" smtClean="0">
                <a:solidFill>
                  <a:schemeClr val="accent3"/>
                </a:solidFill>
              </a:rPr>
              <a:t>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/>
            <a:r>
              <a:rPr lang="en-US" sz="1400" dirty="0" smtClean="0"/>
              <a:t>client.cpp</a:t>
            </a:r>
            <a:endParaRPr lang="en-US" sz="1400" dirty="0"/>
          </a:p>
        </p:txBody>
      </p:sp>
      <p:sp>
        <p:nvSpPr>
          <p:cNvPr id="22" name="Google Shape;853;p42"/>
          <p:cNvSpPr txBox="1">
            <a:spLocks noGrp="1"/>
          </p:cNvSpPr>
          <p:nvPr>
            <p:ph type="subTitle" idx="1"/>
          </p:nvPr>
        </p:nvSpPr>
        <p:spPr>
          <a:xfrm>
            <a:off x="1619672" y="1779662"/>
            <a:ext cx="3627600" cy="208823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" sz="1400" dirty="0"/>
              <a:t>&lt; </a:t>
            </a:r>
            <a:r>
              <a:rPr lang="ru-RU" sz="1400" dirty="0" smtClean="0"/>
              <a:t>Давайте разберем работу функции </a:t>
            </a:r>
            <a:r>
              <a:rPr lang="en-US" sz="1400" dirty="0" err="1" smtClean="0"/>
              <a:t>handleClient</a:t>
            </a:r>
            <a:r>
              <a:rPr lang="ru-RU" sz="1400" dirty="0" smtClean="0"/>
              <a:t>. Функция принимает числа от клиента, сравнивает их с загаданным </a:t>
            </a:r>
            <a:r>
              <a:rPr lang="ru-RU" sz="1400" dirty="0" err="1" smtClean="0"/>
              <a:t>secretNumber</a:t>
            </a:r>
            <a:r>
              <a:rPr lang="ru-RU" sz="1400" dirty="0" smtClean="0"/>
              <a:t>, отправляет подсказки </a:t>
            </a:r>
            <a:r>
              <a:rPr lang="ru-RU" sz="1400" b="1" dirty="0" smtClean="0"/>
              <a:t>MORE/LESS</a:t>
            </a:r>
            <a:r>
              <a:rPr lang="ru-RU" sz="1400" dirty="0" smtClean="0"/>
              <a:t> или </a:t>
            </a:r>
            <a:r>
              <a:rPr lang="ru-RU" sz="1400" b="1" dirty="0" smtClean="0"/>
              <a:t>WIN</a:t>
            </a:r>
            <a:r>
              <a:rPr lang="ru-RU" sz="1400" dirty="0" smtClean="0"/>
              <a:t>, пока клиент не угадает или не отключится</a:t>
            </a:r>
            <a:r>
              <a:rPr lang="en" sz="1400" dirty="0" smtClean="0"/>
              <a:t> </a:t>
            </a:r>
            <a:r>
              <a:rPr lang="en" sz="1400" dirty="0"/>
              <a:t>&gt;</a:t>
            </a:r>
            <a:endParaRPr sz="1400" dirty="0"/>
          </a:p>
        </p:txBody>
      </p:sp>
      <p:pic>
        <p:nvPicPr>
          <p:cNvPr id="6145" name="Picture 1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148064" y="583307"/>
            <a:ext cx="3957274" cy="4076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pull dir="d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4598635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sz="2800" dirty="0" smtClean="0"/>
              <a:t>Работа</a:t>
            </a:r>
            <a:r>
              <a:rPr lang="en" sz="2800" dirty="0" smtClean="0">
                <a:solidFill>
                  <a:schemeClr val="accent2"/>
                </a:solidFill>
              </a:rPr>
              <a:t> ‘Server’</a:t>
            </a:r>
            <a:r>
              <a:rPr lang="en" sz="2800" dirty="0" smtClean="0">
                <a:solidFill>
                  <a:schemeClr val="accent6"/>
                </a:solidFill>
              </a:rPr>
              <a:t>{</a:t>
            </a:r>
            <a:endParaRPr sz="2800" dirty="0">
              <a:solidFill>
                <a:schemeClr val="accent3"/>
              </a:solidFill>
            </a:endParaRPr>
          </a:p>
        </p:txBody>
      </p:sp>
      <p:grpSp>
        <p:nvGrpSpPr>
          <p:cNvPr id="2" name="Google Shape;462;p27"/>
          <p:cNvGrpSpPr/>
          <p:nvPr/>
        </p:nvGrpSpPr>
        <p:grpSpPr>
          <a:xfrm>
            <a:off x="1413525" y="2067694"/>
            <a:ext cx="506100" cy="2105579"/>
            <a:chOff x="1413525" y="1759900"/>
            <a:chExt cx="506100" cy="2413373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13525" y="3557750"/>
              <a:ext cx="506100" cy="6155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465" name="Google Shape;465;p27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smtClean="0"/>
              <a:t>server</a:t>
            </a:r>
            <a:r>
              <a:rPr lang="en" sz="1400" dirty="0" smtClean="0">
                <a:solidFill>
                  <a:schemeClr val="accent3"/>
                </a:solidFill>
              </a:rPr>
              <a:t>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66" name="Google Shape;466;p27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/>
            <a:r>
              <a:rPr lang="en-US" sz="1400" dirty="0" smtClean="0"/>
              <a:t>client.cpp</a:t>
            </a:r>
            <a:endParaRPr lang="en-US" sz="1400" dirty="0"/>
          </a:p>
        </p:txBody>
      </p:sp>
      <p:sp>
        <p:nvSpPr>
          <p:cNvPr id="22" name="Google Shape;853;p42"/>
          <p:cNvSpPr txBox="1">
            <a:spLocks noGrp="1"/>
          </p:cNvSpPr>
          <p:nvPr>
            <p:ph type="subTitle" idx="1"/>
          </p:nvPr>
        </p:nvSpPr>
        <p:spPr>
          <a:xfrm>
            <a:off x="1763688" y="1779662"/>
            <a:ext cx="3627600" cy="201622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" sz="1400" dirty="0"/>
              <a:t>&lt; </a:t>
            </a:r>
            <a:r>
              <a:rPr lang="ru-RU" sz="1400" dirty="0" smtClean="0"/>
              <a:t>Далее разберем суть работы функции </a:t>
            </a:r>
            <a:r>
              <a:rPr lang="en-US" sz="1400" dirty="0" smtClean="0"/>
              <a:t>main: </a:t>
            </a:r>
            <a:r>
              <a:rPr lang="ru-RU" sz="1400" dirty="0" smtClean="0"/>
              <a:t>Это </a:t>
            </a:r>
            <a:r>
              <a:rPr lang="ru-RU" sz="1400" b="1" dirty="0" smtClean="0"/>
              <a:t>точка входа сервера</a:t>
            </a:r>
            <a:r>
              <a:rPr lang="ru-RU" sz="1400" dirty="0" smtClean="0"/>
              <a:t>: инициализирует сеть, загадывает число и бесконечно принимает новых клиентов, запуская для каждого отдельный поток.</a:t>
            </a:r>
            <a:r>
              <a:rPr lang="en-US" sz="1400" dirty="0" smtClean="0"/>
              <a:t> </a:t>
            </a:r>
            <a:r>
              <a:rPr lang="ru-RU" sz="1400" dirty="0" err="1" smtClean="0"/>
              <a:t>secretNumber</a:t>
            </a:r>
            <a:r>
              <a:rPr lang="ru-RU" sz="1400" dirty="0" smtClean="0"/>
              <a:t> генерируется </a:t>
            </a:r>
            <a:r>
              <a:rPr lang="ru-RU" sz="1400" b="1" dirty="0" smtClean="0"/>
              <a:t>один раз при старте сервера</a:t>
            </a:r>
            <a:r>
              <a:rPr lang="ru-RU" sz="1400" dirty="0" smtClean="0"/>
              <a:t> — все клиенты угадывают одно и то же число.</a:t>
            </a:r>
            <a:r>
              <a:rPr lang="en-US" sz="1400" dirty="0" smtClean="0"/>
              <a:t> </a:t>
            </a:r>
            <a:r>
              <a:rPr lang="en" sz="1400" dirty="0" smtClean="0"/>
              <a:t>&gt;</a:t>
            </a:r>
            <a:endParaRPr sz="1400" dirty="0"/>
          </a:p>
        </p:txBody>
      </p:sp>
      <p:grpSp>
        <p:nvGrpSpPr>
          <p:cNvPr id="25" name="Google Shape;2531;p48"/>
          <p:cNvGrpSpPr/>
          <p:nvPr/>
        </p:nvGrpSpPr>
        <p:grpSpPr>
          <a:xfrm>
            <a:off x="5580112" y="948075"/>
            <a:ext cx="3439196" cy="2775803"/>
            <a:chOff x="4994678" y="1173377"/>
            <a:chExt cx="3439196" cy="2775803"/>
          </a:xfrm>
        </p:grpSpPr>
        <p:grpSp>
          <p:nvGrpSpPr>
            <p:cNvPr id="26" name="Google Shape;2532;p48"/>
            <p:cNvGrpSpPr/>
            <p:nvPr/>
          </p:nvGrpSpPr>
          <p:grpSpPr>
            <a:xfrm>
              <a:off x="4994678" y="1173377"/>
              <a:ext cx="3439196" cy="2775803"/>
              <a:chOff x="4572031" y="1415284"/>
              <a:chExt cx="2875341" cy="2319354"/>
            </a:xfrm>
          </p:grpSpPr>
          <p:grpSp>
            <p:nvGrpSpPr>
              <p:cNvPr id="28" name="Google Shape;2533;p48"/>
              <p:cNvGrpSpPr/>
              <p:nvPr/>
            </p:nvGrpSpPr>
            <p:grpSpPr>
              <a:xfrm>
                <a:off x="4572031" y="1415284"/>
                <a:ext cx="2875341" cy="1993075"/>
                <a:chOff x="3665860" y="822037"/>
                <a:chExt cx="4758136" cy="3243937"/>
              </a:xfrm>
            </p:grpSpPr>
            <p:grpSp>
              <p:nvGrpSpPr>
                <p:cNvPr id="30" name="Google Shape;2534;p48"/>
                <p:cNvGrpSpPr/>
                <p:nvPr/>
              </p:nvGrpSpPr>
              <p:grpSpPr>
                <a:xfrm>
                  <a:off x="3665860" y="822037"/>
                  <a:ext cx="4758136" cy="3243937"/>
                  <a:chOff x="518725" y="252435"/>
                  <a:chExt cx="6524250" cy="4448015"/>
                </a:xfrm>
              </p:grpSpPr>
              <p:sp>
                <p:nvSpPr>
                  <p:cNvPr id="32" name="Google Shape;2535;p48"/>
                  <p:cNvSpPr/>
                  <p:nvPr/>
                </p:nvSpPr>
                <p:spPr>
                  <a:xfrm>
                    <a:off x="518725" y="4131625"/>
                    <a:ext cx="6524250" cy="568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970" h="22753" extrusionOk="0">
                        <a:moveTo>
                          <a:pt x="0" y="14846"/>
                        </a:moveTo>
                        <a:cubicBezTo>
                          <a:pt x="0" y="19169"/>
                          <a:pt x="4039" y="22753"/>
                          <a:pt x="8305" y="22753"/>
                        </a:cubicBezTo>
                        <a:lnTo>
                          <a:pt x="253120" y="22753"/>
                        </a:lnTo>
                        <a:cubicBezTo>
                          <a:pt x="257443" y="22696"/>
                          <a:pt x="260913" y="19169"/>
                          <a:pt x="260970" y="14846"/>
                        </a:cubicBezTo>
                        <a:lnTo>
                          <a:pt x="26097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 w="9525" cap="flat" cmpd="sng">
                    <a:solidFill>
                      <a:schemeClr val="accent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accent3"/>
                      </a:solidFill>
                    </a:endParaRPr>
                  </a:p>
                </p:txBody>
              </p:sp>
              <p:sp>
                <p:nvSpPr>
                  <p:cNvPr id="33" name="Google Shape;2536;p48"/>
                  <p:cNvSpPr/>
                  <p:nvPr/>
                </p:nvSpPr>
                <p:spPr>
                  <a:xfrm>
                    <a:off x="518725" y="252435"/>
                    <a:ext cx="6524250" cy="3893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970" h="155741" extrusionOk="0">
                        <a:moveTo>
                          <a:pt x="249594" y="9954"/>
                        </a:moveTo>
                        <a:lnTo>
                          <a:pt x="249594" y="144364"/>
                        </a:lnTo>
                        <a:lnTo>
                          <a:pt x="11376" y="144364"/>
                        </a:lnTo>
                        <a:lnTo>
                          <a:pt x="11376" y="9954"/>
                        </a:lnTo>
                        <a:close/>
                        <a:moveTo>
                          <a:pt x="8305" y="0"/>
                        </a:moveTo>
                        <a:cubicBezTo>
                          <a:pt x="4039" y="0"/>
                          <a:pt x="0" y="2844"/>
                          <a:pt x="0" y="7110"/>
                        </a:cubicBezTo>
                        <a:lnTo>
                          <a:pt x="0" y="155740"/>
                        </a:lnTo>
                        <a:lnTo>
                          <a:pt x="260970" y="155740"/>
                        </a:lnTo>
                        <a:lnTo>
                          <a:pt x="260970" y="7110"/>
                        </a:lnTo>
                        <a:cubicBezTo>
                          <a:pt x="260970" y="2844"/>
                          <a:pt x="257386" y="0"/>
                          <a:pt x="253120" y="0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 w="9525" cap="flat" cmpd="sng">
                    <a:solidFill>
                      <a:schemeClr val="accent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solidFill>
                        <a:schemeClr val="accent3"/>
                      </a:solidFill>
                    </a:endParaRPr>
                  </a:p>
                </p:txBody>
              </p:sp>
            </p:grpSp>
            <p:sp>
              <p:nvSpPr>
                <p:cNvPr id="31" name="Google Shape;2537;p48"/>
                <p:cNvSpPr/>
                <p:nvPr/>
              </p:nvSpPr>
              <p:spPr>
                <a:xfrm>
                  <a:off x="5947879" y="3778845"/>
                  <a:ext cx="194076" cy="1661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27" h="9100" extrusionOk="0">
                      <a:moveTo>
                        <a:pt x="6092" y="0"/>
                      </a:moveTo>
                      <a:cubicBezTo>
                        <a:pt x="2020" y="0"/>
                        <a:pt x="0" y="4900"/>
                        <a:pt x="2881" y="7747"/>
                      </a:cubicBezTo>
                      <a:cubicBezTo>
                        <a:pt x="3804" y="8681"/>
                        <a:pt x="4944" y="9100"/>
                        <a:pt x="6063" y="9100"/>
                      </a:cubicBezTo>
                      <a:cubicBezTo>
                        <a:pt x="8391" y="9100"/>
                        <a:pt x="10627" y="7286"/>
                        <a:pt x="10627" y="4536"/>
                      </a:cubicBezTo>
                      <a:cubicBezTo>
                        <a:pt x="10627" y="2020"/>
                        <a:pt x="8608" y="0"/>
                        <a:pt x="6092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accent3"/>
                    </a:solidFill>
                  </a:endParaRPr>
                </a:p>
              </p:txBody>
            </p:sp>
          </p:grpSp>
          <p:sp>
            <p:nvSpPr>
              <p:cNvPr id="29" name="Google Shape;2538;p48"/>
              <p:cNvSpPr/>
              <p:nvPr/>
            </p:nvSpPr>
            <p:spPr>
              <a:xfrm>
                <a:off x="5498909" y="3408365"/>
                <a:ext cx="1040944" cy="326273"/>
              </a:xfrm>
              <a:custGeom>
                <a:avLst/>
                <a:gdLst/>
                <a:ahLst/>
                <a:cxnLst/>
                <a:rect l="l" t="t" r="r" b="b"/>
                <a:pathLst>
                  <a:path w="94481" h="29125" extrusionOk="0">
                    <a:moveTo>
                      <a:pt x="79805" y="18317"/>
                    </a:moveTo>
                    <a:cubicBezTo>
                      <a:pt x="74117" y="12515"/>
                      <a:pt x="73889" y="1"/>
                      <a:pt x="73889" y="1"/>
                    </a:cubicBezTo>
                    <a:lnTo>
                      <a:pt x="20592" y="1"/>
                    </a:lnTo>
                    <a:cubicBezTo>
                      <a:pt x="20592" y="1"/>
                      <a:pt x="20364" y="12515"/>
                      <a:pt x="14676" y="18317"/>
                    </a:cubicBezTo>
                    <a:cubicBezTo>
                      <a:pt x="8931" y="24175"/>
                      <a:pt x="1" y="29124"/>
                      <a:pt x="15529" y="29124"/>
                    </a:cubicBezTo>
                    <a:lnTo>
                      <a:pt x="78952" y="29124"/>
                    </a:lnTo>
                    <a:cubicBezTo>
                      <a:pt x="94480" y="29124"/>
                      <a:pt x="85493" y="24175"/>
                      <a:pt x="79805" y="18317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accent3"/>
                  </a:solidFill>
                </a:endParaRPr>
              </a:p>
            </p:txBody>
          </p:sp>
        </p:grpSp>
        <p:cxnSp>
          <p:nvCxnSpPr>
            <p:cNvPr id="27" name="Google Shape;2539;p48"/>
            <p:cNvCxnSpPr/>
            <p:nvPr/>
          </p:nvCxnSpPr>
          <p:spPr>
            <a:xfrm rot="10800000">
              <a:off x="5370275" y="3949180"/>
              <a:ext cx="2688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868144" y="1131590"/>
            <a:ext cx="2880320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pull dir="u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42"/>
          <p:cNvSpPr txBox="1">
            <a:spLocks noGrp="1"/>
          </p:cNvSpPr>
          <p:nvPr>
            <p:ph type="title"/>
          </p:nvPr>
        </p:nvSpPr>
        <p:spPr>
          <a:xfrm>
            <a:off x="1154275" y="1137700"/>
            <a:ext cx="3969900" cy="142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chemeClr val="lt1"/>
                </a:solidFill>
              </a:rPr>
              <a:t>Работа</a:t>
            </a:r>
            <a:r>
              <a:rPr lang="en" dirty="0" smtClean="0">
                <a:solidFill>
                  <a:schemeClr val="accent2"/>
                </a:solidFill>
              </a:rPr>
              <a:t> ‘</a:t>
            </a:r>
            <a:r>
              <a:rPr lang="en-US" dirty="0" smtClean="0">
                <a:solidFill>
                  <a:schemeClr val="accent2"/>
                </a:solidFill>
              </a:rPr>
              <a:t>Client</a:t>
            </a:r>
            <a:r>
              <a:rPr lang="en" dirty="0" smtClean="0">
                <a:solidFill>
                  <a:schemeClr val="accent2"/>
                </a:solidFill>
              </a:rPr>
              <a:t>’</a:t>
            </a:r>
            <a:r>
              <a:rPr lang="en" dirty="0" smtClean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853" name="Google Shape;853;p42"/>
          <p:cNvSpPr txBox="1">
            <a:spLocks noGrp="1"/>
          </p:cNvSpPr>
          <p:nvPr>
            <p:ph type="subTitle" idx="1"/>
          </p:nvPr>
        </p:nvSpPr>
        <p:spPr>
          <a:xfrm>
            <a:off x="1619672" y="2283718"/>
            <a:ext cx="3627600" cy="180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" dirty="0"/>
              <a:t>&lt; </a:t>
            </a:r>
            <a:r>
              <a:rPr lang="ru-RU" dirty="0" smtClean="0"/>
              <a:t>В </a:t>
            </a:r>
            <a:r>
              <a:rPr lang="en-US" dirty="0" smtClean="0"/>
              <a:t>client.cpp </a:t>
            </a:r>
            <a:r>
              <a:rPr lang="ru-RU" dirty="0" smtClean="0"/>
              <a:t>одна функция </a:t>
            </a:r>
            <a:r>
              <a:rPr lang="en-US" dirty="0" smtClean="0"/>
              <a:t>main, </a:t>
            </a:r>
            <a:r>
              <a:rPr lang="ru-RU" dirty="0" smtClean="0"/>
              <a:t>разберем ее работу. Клиент подключается к серверу, в цикле отправляет числа пользователя, получает текстовые подсказки и завершает игру при получении WIN: или разрыве соединения. </a:t>
            </a:r>
            <a:r>
              <a:rPr lang="en" dirty="0" smtClean="0"/>
              <a:t>&gt;</a:t>
            </a:r>
            <a:endParaRPr dirty="0"/>
          </a:p>
        </p:txBody>
      </p:sp>
      <p:sp>
        <p:nvSpPr>
          <p:cNvPr id="855" name="Google Shape;855;p42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server.cpp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856" name="Google Shape;856;p42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client.cpp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2" name="Google Shape;858;p42"/>
          <p:cNvGrpSpPr/>
          <p:nvPr/>
        </p:nvGrpSpPr>
        <p:grpSpPr>
          <a:xfrm>
            <a:off x="1084825" y="2556550"/>
            <a:ext cx="506100" cy="2013475"/>
            <a:chOff x="1084825" y="2556550"/>
            <a:chExt cx="506100" cy="2013475"/>
          </a:xfrm>
        </p:grpSpPr>
        <p:sp>
          <p:nvSpPr>
            <p:cNvPr id="859" name="Google Shape;859;p42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860" name="Google Shape;860;p42"/>
            <p:cNvCxnSpPr/>
            <p:nvPr/>
          </p:nvCxnSpPr>
          <p:spPr>
            <a:xfrm>
              <a:off x="1337875" y="2556550"/>
              <a:ext cx="0" cy="1377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2493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508104" y="555526"/>
            <a:ext cx="3263900" cy="40324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>
    <p:circl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3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Заключение</a:t>
            </a:r>
            <a:r>
              <a:rPr lang="en" dirty="0" smtClean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635" name="Google Shape;635;p34"/>
          <p:cNvSpPr txBox="1"/>
          <p:nvPr/>
        </p:nvSpPr>
        <p:spPr>
          <a:xfrm>
            <a:off x="1084825" y="3954425"/>
            <a:ext cx="506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  <a:endParaRPr sz="2800">
              <a:solidFill>
                <a:schemeClr val="accent6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6" name="Google Shape;636;p34"/>
          <p:cNvSpPr txBox="1"/>
          <p:nvPr/>
        </p:nvSpPr>
        <p:spPr>
          <a:xfrm>
            <a:off x="1907704" y="1275606"/>
            <a:ext cx="1224136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smtClean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Сокеты</a:t>
            </a:r>
            <a:endParaRPr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7" name="Google Shape;637;p34"/>
          <p:cNvSpPr txBox="1"/>
          <p:nvPr/>
        </p:nvSpPr>
        <p:spPr>
          <a:xfrm>
            <a:off x="3032891" y="1261450"/>
            <a:ext cx="4347421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Использовались для сетевого обмена данными по протоколу TCP через функции отправки и получения.</a:t>
            </a:r>
            <a:endParaRPr dirty="0">
              <a:solidFill>
                <a:schemeClr val="accent6"/>
              </a:solidFill>
              <a:latin typeface="Fira Code" charset="0"/>
              <a:ea typeface="Fira Code" charset="0"/>
              <a:cs typeface="Fira Code" charset="0"/>
              <a:sym typeface="Fira Code"/>
            </a:endParaRPr>
          </a:p>
        </p:txBody>
      </p:sp>
      <p:sp>
        <p:nvSpPr>
          <p:cNvPr id="638" name="Google Shape;638;p34"/>
          <p:cNvSpPr txBox="1"/>
          <p:nvPr/>
        </p:nvSpPr>
        <p:spPr>
          <a:xfrm>
            <a:off x="2068425" y="1984000"/>
            <a:ext cx="1294500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smtClean="0">
                <a:solidFill>
                  <a:schemeClr val="lt2"/>
                </a:solidFill>
                <a:latin typeface="Fira Code"/>
                <a:ea typeface="Fira Code"/>
                <a:cs typeface="Fira Code"/>
                <a:sym typeface="Fira Code"/>
              </a:rPr>
              <a:t>Потоки</a:t>
            </a:r>
            <a:endParaRPr sz="2000" dirty="0">
              <a:solidFill>
                <a:schemeClr val="lt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9" name="Google Shape;639;p34"/>
          <p:cNvSpPr txBox="1"/>
          <p:nvPr/>
        </p:nvSpPr>
        <p:spPr>
          <a:xfrm>
            <a:off x="3326924" y="1984008"/>
            <a:ext cx="5133508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Каждый клиент обслуживается в отдельном потоке — это позволяет серверу работать с несколькими игроками одновременно без блокировок</a:t>
            </a:r>
            <a:endParaRPr dirty="0">
              <a:solidFill>
                <a:schemeClr val="accent6"/>
              </a:solidFill>
              <a:latin typeface="Fira Code" charset="0"/>
              <a:ea typeface="Fira Code" charset="0"/>
              <a:cs typeface="Fira Code" charset="0"/>
              <a:sym typeface="Fira Code"/>
            </a:endParaRPr>
          </a:p>
        </p:txBody>
      </p:sp>
      <p:sp>
        <p:nvSpPr>
          <p:cNvPr id="640" name="Google Shape;640;p34"/>
          <p:cNvSpPr txBox="1"/>
          <p:nvPr/>
        </p:nvSpPr>
        <p:spPr>
          <a:xfrm>
            <a:off x="2505724" y="2706550"/>
            <a:ext cx="1562219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smtClean="0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rPr>
              <a:t>Указатели</a:t>
            </a:r>
            <a:endParaRPr sz="2000" dirty="0">
              <a:solidFill>
                <a:schemeClr val="dk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1" name="Google Shape;641;p34"/>
          <p:cNvSpPr txBox="1"/>
          <p:nvPr/>
        </p:nvSpPr>
        <p:spPr>
          <a:xfrm>
            <a:off x="4067943" y="2787774"/>
            <a:ext cx="4536505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Через указатели в сетевые функции передавались структуры настроек и буферы данных</a:t>
            </a:r>
            <a:r>
              <a:rPr lang="ru-RU" dirty="0" smtClean="0"/>
              <a:t>.</a:t>
            </a:r>
            <a:endParaRPr dirty="0">
              <a:solidFill>
                <a:schemeClr val="accent6"/>
              </a:solidFill>
              <a:latin typeface="Fira Code" charset="0"/>
              <a:ea typeface="Fira Code" charset="0"/>
              <a:cs typeface="Fira Code" charset="0"/>
              <a:sym typeface="Fira Code"/>
            </a:endParaRPr>
          </a:p>
        </p:txBody>
      </p:sp>
      <p:sp>
        <p:nvSpPr>
          <p:cNvPr id="642" name="Google Shape;642;p34"/>
          <p:cNvSpPr txBox="1"/>
          <p:nvPr/>
        </p:nvSpPr>
        <p:spPr>
          <a:xfrm>
            <a:off x="2924774" y="3429125"/>
            <a:ext cx="1791241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 smtClean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Управление памятью</a:t>
            </a:r>
            <a:endParaRPr sz="2000" dirty="0">
              <a:solidFill>
                <a:schemeClr val="accent2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3" name="Google Shape;643;p34"/>
          <p:cNvSpPr txBox="1"/>
          <p:nvPr/>
        </p:nvSpPr>
        <p:spPr>
          <a:xfrm>
            <a:off x="4644008" y="3507854"/>
            <a:ext cx="4499992" cy="5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 smtClean="0">
                <a:solidFill>
                  <a:schemeClr val="accent6"/>
                </a:solidFill>
                <a:latin typeface="Fira Code" charset="0"/>
                <a:ea typeface="Fira Code" charset="0"/>
                <a:cs typeface="Fira Code" charset="0"/>
              </a:rPr>
              <a:t>Преимущественно автоматическая (стек), вручную освобождались только служебные сетевые структуры.</a:t>
            </a:r>
            <a:endParaRPr dirty="0">
              <a:solidFill>
                <a:schemeClr val="accent6"/>
              </a:solidFill>
              <a:latin typeface="Fira Code" charset="0"/>
              <a:ea typeface="Fira Code" charset="0"/>
              <a:cs typeface="Fira Code" charset="0"/>
              <a:sym typeface="Fira Code"/>
            </a:endParaRPr>
          </a:p>
        </p:txBody>
      </p:sp>
      <p:sp>
        <p:nvSpPr>
          <p:cNvPr id="645" name="Google Shape;645;p34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buNone/>
            </a:pPr>
            <a:r>
              <a:rPr lang="en-US" dirty="0" smtClean="0">
                <a:solidFill>
                  <a:schemeClr val="accent3"/>
                </a:solidFill>
              </a:rPr>
              <a:t>server.cpp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646" name="Google Shape;646;p34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buNone/>
            </a:pPr>
            <a:r>
              <a:rPr lang="en-US" dirty="0" smtClean="0">
                <a:solidFill>
                  <a:schemeClr val="accent3"/>
                </a:solidFill>
              </a:rPr>
              <a:t>client.cpp</a:t>
            </a:r>
            <a:endParaRPr lang="en-US" dirty="0">
              <a:solidFill>
                <a:schemeClr val="accent3"/>
              </a:solidFill>
            </a:endParaRPr>
          </a:p>
        </p:txBody>
      </p:sp>
      <p:cxnSp>
        <p:nvCxnSpPr>
          <p:cNvPr id="647" name="Google Shape;647;p34"/>
          <p:cNvCxnSpPr/>
          <p:nvPr/>
        </p:nvCxnSpPr>
        <p:spPr>
          <a:xfrm>
            <a:off x="1337875" y="1154900"/>
            <a:ext cx="0" cy="27786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8" name="Google Shape;648;p34"/>
          <p:cNvCxnSpPr/>
          <p:nvPr/>
        </p:nvCxnSpPr>
        <p:spPr>
          <a:xfrm>
            <a:off x="1337875" y="1553675"/>
            <a:ext cx="209789" cy="9963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0" name="Google Shape;650;p34"/>
          <p:cNvCxnSpPr/>
          <p:nvPr/>
        </p:nvCxnSpPr>
        <p:spPr>
          <a:xfrm>
            <a:off x="1337875" y="2276200"/>
            <a:ext cx="353805" cy="7518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1" name="Google Shape;651;p34"/>
          <p:cNvSpPr/>
          <p:nvPr/>
        </p:nvSpPr>
        <p:spPr>
          <a:xfrm>
            <a:off x="1280125" y="2218446"/>
            <a:ext cx="115500" cy="1155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52" name="Google Shape;652;p34"/>
          <p:cNvCxnSpPr/>
          <p:nvPr/>
        </p:nvCxnSpPr>
        <p:spPr>
          <a:xfrm>
            <a:off x="1337875" y="2998763"/>
            <a:ext cx="785853" cy="5035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34"/>
          <p:cNvSpPr/>
          <p:nvPr/>
        </p:nvSpPr>
        <p:spPr>
          <a:xfrm>
            <a:off x="1280125" y="2941004"/>
            <a:ext cx="115500" cy="1155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54" name="Google Shape;654;p34"/>
          <p:cNvCxnSpPr/>
          <p:nvPr/>
        </p:nvCxnSpPr>
        <p:spPr>
          <a:xfrm>
            <a:off x="1337875" y="3721325"/>
            <a:ext cx="1001877" cy="2553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5" name="Google Shape;655;p34"/>
          <p:cNvSpPr/>
          <p:nvPr/>
        </p:nvSpPr>
        <p:spPr>
          <a:xfrm>
            <a:off x="1280125" y="3663563"/>
            <a:ext cx="115500" cy="115500"/>
          </a:xfrm>
          <a:prstGeom prst="ellipse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11997;p64"/>
          <p:cNvGrpSpPr/>
          <p:nvPr/>
        </p:nvGrpSpPr>
        <p:grpSpPr>
          <a:xfrm>
            <a:off x="2483768" y="3579862"/>
            <a:ext cx="351615" cy="350373"/>
            <a:chOff x="6203579" y="3348981"/>
            <a:chExt cx="351615" cy="350373"/>
          </a:xfrm>
        </p:grpSpPr>
        <p:sp>
          <p:nvSpPr>
            <p:cNvPr id="26" name="Google Shape;11998;p64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1999;p64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2000;p64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2001;p64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2002;p64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11425;p63"/>
          <p:cNvSpPr/>
          <p:nvPr/>
        </p:nvSpPr>
        <p:spPr>
          <a:xfrm>
            <a:off x="2195736" y="2787774"/>
            <a:ext cx="357688" cy="357339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14483;p68"/>
          <p:cNvSpPr/>
          <p:nvPr/>
        </p:nvSpPr>
        <p:spPr>
          <a:xfrm>
            <a:off x="1763688" y="2067694"/>
            <a:ext cx="367712" cy="367680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" name="Google Shape;11439;p63"/>
          <p:cNvGrpSpPr/>
          <p:nvPr/>
        </p:nvGrpSpPr>
        <p:grpSpPr>
          <a:xfrm>
            <a:off x="1619672" y="1380514"/>
            <a:ext cx="342192" cy="327140"/>
            <a:chOff x="7441465" y="2302860"/>
            <a:chExt cx="342192" cy="327140"/>
          </a:xfrm>
        </p:grpSpPr>
        <p:sp>
          <p:nvSpPr>
            <p:cNvPr id="47" name="Google Shape;11440;p63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1441;p63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>
    <p:wheel spokes="1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Google Shape;2544;p49"/>
          <p:cNvSpPr txBox="1">
            <a:spLocks noGrp="1"/>
          </p:cNvSpPr>
          <p:nvPr>
            <p:ph type="ctrTitle"/>
          </p:nvPr>
        </p:nvSpPr>
        <p:spPr>
          <a:xfrm>
            <a:off x="1139124" y="582056"/>
            <a:ext cx="5737132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 smtClean="0"/>
              <a:t>Спасибо за внимание</a:t>
            </a:r>
            <a:r>
              <a:rPr lang="en" dirty="0" smtClean="0"/>
              <a:t>;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2547" name="Google Shape;2547;p49"/>
          <p:cNvSpPr txBox="1"/>
          <p:nvPr/>
        </p:nvSpPr>
        <p:spPr>
          <a:xfrm>
            <a:off x="2912425" y="3781775"/>
            <a:ext cx="44181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&lt; Please keep this slide for attribution &gt; </a:t>
            </a:r>
            <a:endParaRPr sz="120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71" name="Google Shape;2571;p49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server.cpp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572" name="Google Shape;2572;p49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 smtClean="0">
                <a:solidFill>
                  <a:schemeClr val="accent3"/>
                </a:solidFill>
              </a:rPr>
              <a:t>client.cpp</a:t>
            </a:r>
            <a:endParaRPr sz="1400" dirty="0">
              <a:solidFill>
                <a:schemeClr val="accent3"/>
              </a:solidFill>
            </a:endParaRPr>
          </a:p>
        </p:txBody>
      </p:sp>
      <p:grpSp>
        <p:nvGrpSpPr>
          <p:cNvPr id="5" name="Google Shape;2573;p49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2574" name="Google Shape;2574;p49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2575" name="Google Shape;2575;p49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3076" name="Picture 4" descr="Изображение пина-истории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843808" y="1347614"/>
            <a:ext cx="4259643" cy="3096344"/>
          </a:xfrm>
          <a:prstGeom prst="rect">
            <a:avLst/>
          </a:prstGeom>
          <a:noFill/>
        </p:spPr>
      </p:pic>
    </p:spTree>
  </p:cSld>
  <p:clrMapOvr>
    <a:masterClrMapping/>
  </p:clrMapOvr>
  <p:transition>
    <p:fade thruBlk="1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4040</TotalTime>
  <Words>417</Words>
  <Application>Microsoft Office PowerPoint</Application>
  <PresentationFormat>Экран (16:9)</PresentationFormat>
  <Paragraphs>76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Fira Code</vt:lpstr>
      <vt:lpstr>Montserrat</vt:lpstr>
      <vt:lpstr>Programming Language Workshop for Beginners by Slidesgo</vt:lpstr>
      <vt:lpstr>Проект ‘Угадай число’ {</vt:lpstr>
      <vt:lpstr>Цели и задачи проекта</vt:lpstr>
      <vt:lpstr>Архитектура приложения {</vt:lpstr>
      <vt:lpstr>Как выглядит игра{</vt:lpstr>
      <vt:lpstr>Как выглядит игра{</vt:lpstr>
      <vt:lpstr>Как осуществить подключение {</vt:lpstr>
      <vt:lpstr>Как осуществить подключение {</vt:lpstr>
      <vt:lpstr>Работа ‘Server’ {</vt:lpstr>
      <vt:lpstr>Работа ‘Server’{</vt:lpstr>
      <vt:lpstr>Работа ‘Client’{</vt:lpstr>
      <vt:lpstr>Заключение{</vt:lpstr>
      <vt:lpstr>Спасибо за внимание; {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‘Угадай число’ {</dc:title>
  <cp:lastModifiedBy>Ольга</cp:lastModifiedBy>
  <cp:revision>14</cp:revision>
  <dcterms:modified xsi:type="dcterms:W3CDTF">2026-03-13T05:32:12Z</dcterms:modified>
</cp:coreProperties>
</file>